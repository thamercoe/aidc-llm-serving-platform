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5" d="100"/>
          <a:sy n="135" d="100"/>
        </p:scale>
        <p:origin x="88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02920"/>
            <a:ext cx="2926080" cy="256032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A5B4FC"/>
                </a:solidFill>
                <a:latin typeface="Segoe UI"/>
              </a:defRPr>
            </a:pPr>
            <a:r>
              <a:t>AIDC BOOTCAMP CAPSTONE  ·  TEAM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RFP AI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Built for Beam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93392"/>
            <a:ext cx="7680960" cy="1463040"/>
          </a:xfrm>
          <a:prstGeom prst="roundRect">
            <a:avLst/>
          </a:prstGeom>
          <a:solidFill>
            <a:srgbClr val="131C31"/>
          </a:solidFill>
          <a:ln w="1587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46304" rIns="219456" bIns="128016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A5B4FC"/>
                </a:solidFill>
                <a:latin typeface="Segoe UI"/>
              </a:defRPr>
            </a:pPr>
            <a:r>
              <a:t>WHAT IT IS</a:t>
            </a:r>
          </a:p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 benchmarking platform for Beam Data advisors that compares LLMs on extracting key fields from RFP documents, so clients can choose the right model with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84448"/>
            <a:ext cx="7680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5B4FC"/>
                </a:solidFill>
                <a:latin typeface="Segoe UI"/>
              </a:defRPr>
            </a:pPr>
            <a:r>
              <a:t>TEAM 7 PRESENTERS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810512" cy="804672"/>
          </a:xfrm>
          <a:prstGeom prst="roundRect">
            <a:avLst/>
          </a:prstGeom>
          <a:solidFill>
            <a:srgbClr val="17203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300"/>
              </a:spcAft>
              <a:defRPr sz="750" b="1">
                <a:solidFill>
                  <a:srgbClr val="A5B4FC"/>
                </a:solidFill>
                <a:latin typeface="Segoe UI"/>
              </a:defRPr>
            </a:pPr>
            <a:r>
              <a:t>TEAM 7  ·  PRESENTER 1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Mohanad Babgi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336" y="3840480"/>
            <a:ext cx="1810512" cy="804672"/>
          </a:xfrm>
          <a:prstGeom prst="roundRect">
            <a:avLst/>
          </a:prstGeom>
          <a:solidFill>
            <a:srgbClr val="17203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300"/>
              </a:spcAft>
              <a:defRPr sz="750" b="1">
                <a:solidFill>
                  <a:srgbClr val="A5B4FC"/>
                </a:solidFill>
                <a:latin typeface="Segoe UI"/>
              </a:defRPr>
            </a:pPr>
            <a:r>
              <a:t>TEAM 7  ·  PRESENTER 2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Abdullah Almithn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3840480"/>
            <a:ext cx="1810512" cy="804672"/>
          </a:xfrm>
          <a:prstGeom prst="roundRect">
            <a:avLst/>
          </a:prstGeom>
          <a:solidFill>
            <a:srgbClr val="17203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300"/>
              </a:spcAft>
              <a:defRPr sz="750" b="1">
                <a:solidFill>
                  <a:srgbClr val="A5B4FC"/>
                </a:solidFill>
                <a:latin typeface="Segoe UI"/>
              </a:defRPr>
            </a:pPr>
            <a:r>
              <a:t>TEAM 7  ·  PRESENTER 3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Thamer Alotaibi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1968" y="3840480"/>
            <a:ext cx="1810512" cy="804672"/>
          </a:xfrm>
          <a:prstGeom prst="roundRect">
            <a:avLst/>
          </a:prstGeom>
          <a:solidFill>
            <a:srgbClr val="17203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300"/>
              </a:spcAft>
              <a:defRPr sz="750" b="1">
                <a:solidFill>
                  <a:srgbClr val="A5B4FC"/>
                </a:solidFill>
                <a:latin typeface="Segoe UI"/>
              </a:defRPr>
            </a:pPr>
            <a:r>
              <a:t>TEAM 7  ·  PRESENTER 4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Amer Alsenani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02 / 13  ·  PROBLEM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Current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Choosing an LLM for RFP work is guesswork without task-specific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2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523744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BEAM DATA ADVISORS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Consultants who recommend which LLM a client should use for RFP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61488"/>
            <a:ext cx="2523744" cy="1874519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Model advice rests on vendor claims and generic leaderboards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No RFP-specific evidence to show clients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Accuracy, speed and cost are hard to weigh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417320"/>
            <a:ext cx="2523744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CLIENT BID TEAMS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Procurement and proposal teams who read long RFPs to find deadlines, requirements and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2761488"/>
            <a:ext cx="2523744" cy="1874519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Manual review of long RFPs is slow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Key fields are easy to miss or misread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Unclear whether an LLM answer can be trusted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417320"/>
            <a:ext cx="2523744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PLATFORM TEAMS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Engineers who deploy and serve models on the shared AI infrastructure.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2761488"/>
            <a:ext cx="2523744" cy="1874519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Self-hosted models must fit a 16 GB VRAM budget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No proof a 7–8B model matches a hosted API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No shared test harness for new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03 / 13  ·  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Many ways to process documents, few ways to compare models on RFPs.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3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886200" cy="321868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THE MARKET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Field: Businesses are using LLMs to read and summarise procurement documents such as RFPs.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Trend: The model landscape is moving fast, from hosted APIs to open-weight models that companies can run themselves.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Why now: Teams must choose between accuracy, speed, cost and data control, but rarely have RFP-specific results to decide with.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417320"/>
            <a:ext cx="3886200" cy="19659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EXISTING OPTIONS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Manual RFP review — slow and varies by reviewer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Public LLM leaderboards — generic tasks, not RFP fields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Vendor demos and claims — one model, no shared test set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Cloud document-AI services — single vendor, no self-hosted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3493008"/>
            <a:ext cx="3886200" cy="114300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MARKET GAP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No easy way to compare hosted and self-hosted LLMs side by side on the same RFPs, with evidence-checked accuracy, speed and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04 / 13  ·  CORE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Upload an RFP, compare three models, see which one extracts best.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4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8046720" cy="1874519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OUR SOLUTION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An advisor uploads an RFP PDF. The platform extracts its text and sends the same prompt to three models: Llama 3.1 8B and Qwen2.5 7B (both self-hosted, 4-bit) plus OpenAI. Each returns 17 key fields, such as the submission deadline, as structured JSON with a supporting quote from the document. Every answer is then scored against human-annotated ground truth and compared on accuracy, hallucination rate, latency, tokens and cost across 10 documents: 5 RFPs in English and the same 5 in Arabic.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8046720" cy="1207008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IN ONE LINE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We run three LLMs on the same RFPs and show which one extracts the most accurately, quickly and cheaply.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182880"/>
            <a:ext cx="237744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05 / 13  ·  SYSTEM ARCHITECTURE</a:t>
            </a:r>
          </a:p>
        </p:txBody>
      </p:sp>
      <p:pic>
        <p:nvPicPr>
          <p:cNvPr id="3" name="Picture 2" descr="slide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38912"/>
            <a:ext cx="6675120" cy="4370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9204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89204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Segoe UI"/>
              </a:defRPr>
            </a:pPr>
            <a:r>
              <a:t>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06 / 13  ·  MULTI-MODEL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Key Feature 1: Multi-Model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Same document, three models, one 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6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8046720" cy="2057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HOW IT WORKS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Upload: an RFP PDF is converted to text with PyMuPDF and combined with a fixed extraction prompt.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Parallel calls: the identical prompt goes to all 3 models through one OpenAI-compatible client. One GPU: the self-hosted pair run in separate passes.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Structured output: each model returns 17 fields as JSON with a status (found or not stated), a value and an evidence quote.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Resilient: if one model fails or times out, the others still return, and every raw answer is saved before parsing.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84448"/>
            <a:ext cx="8046720" cy="10515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WHY IT MATTERS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Advisors see all three models’ answers on the same RFP side by side, with no scripts to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07 / 13  ·  EVIDENCE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Key Feature 2: Evidence-Based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Every answer is checked against ground truth and its quoted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7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8046720" cy="2057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HOW IT WORKS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Ground truth: the team annotates the correct value for each field in every sample RFP.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Field-by-field check: each model answer is normalised (dates, values) and compared with the ground truth.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Five outcomes: correct, miss, correct abstention, extraction error (wrong but quoted from the text) or fabrication (wrong and unsupported).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Macro accuracy: the 17 field scores are averaged per document and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84448"/>
            <a:ext cx="8046720" cy="10515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WHY IT MATTERS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Separates honest misreads from made-up answers. Measured across the ten documents: gpt-4o-mini invented nothing, Llama invented 6 values and Qwen 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08 / 13  ·  BENCHMARK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Key Feature 3: Benchmark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From individual answers to a defensible recommendation.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8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8046720" cy="2057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HOW IT WORKS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One-click runs: start a full benchmark of the sample RFPs across all 3 models and watch its progress.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Key metrics: accuracy, hallucination rate, latency, token usage and estimated cost for each model.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Results page: summary table, charts and per-field accuracy to show where each model is strong or weak.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Export: download results as CSV to feed the benchmark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84448"/>
            <a:ext cx="8046720" cy="10515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WHY IT MATTERS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Turns raw model output into evidence. Running gpt-4o-mini twice put run-to-run variation at 0.032 — which is how we know a 0.033 gap between two models means nothing.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09 / 13  ·  SELF-HOSTED VS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Key Feature 4: Self-Hosted vs OpenAI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Hosted and self-hosted models tested on the same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9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8046720" cy="2057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HOW IT WORKS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Self-hosted: Meta-Llama-3.1-8B-Instruct and Qwen2.5-7B-Instruct, both 4-bit AWQ, run on vLLM on our own Kubernetes cluster within the 16 GB VRAM budget. Matched context, batching and memory settings, so differences reflect the models.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Hosted reference: OpenAI is added as the benchmark for what a commercial API achieves.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One interface: every model sits behind an OpenAI-compatible API, so the same code and prompt test them all.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Live demo: the deployed model can also be shown in the AI Hub playground.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84448"/>
            <a:ext cx="8046720" cy="10515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WHY IT MATTERS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The answer: close on English — 0.492 and 0.459 against 0.550 — but not on Arabic, where the self-hosted models lose 40% and 63% of their accuracy against 13%.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10 / 13  · 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Three models, 10 documents, 17 fields each. Accuracy is the mean field score against human-annotated ground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10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523744" cy="3218688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4F46E5"/>
                </a:solidFill>
                <a:latin typeface="Segoe UI"/>
              </a:defRPr>
            </a:pPr>
            <a:r>
              <a:t>BENCHMARK LEADER</a:t>
            </a:r>
          </a:p>
          <a:p>
            <a:pPr>
              <a:defRPr sz="1350" b="1">
                <a:solidFill>
                  <a:srgbClr val="4338CA"/>
                </a:solidFill>
                <a:latin typeface="Segoe UI"/>
              </a:defRPr>
            </a:pPr>
            <a:r>
              <a:t>GPT-4O-MINI</a:t>
            </a:r>
          </a:p>
          <a:p>
            <a:pPr>
              <a:spcAft>
                <a:spcPts val="1000"/>
              </a:spcAft>
              <a:defRPr sz="1000">
                <a:solidFill>
                  <a:srgbClr val="4F46E5"/>
                </a:solidFill>
                <a:latin typeface="Segoe UI"/>
              </a:defRPr>
            </a:pPr>
            <a:r>
              <a:t>OpenAI API</a:t>
            </a:r>
          </a:p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  <a:latin typeface="Segoe UI"/>
              </a:defRPr>
            </a:pPr>
            <a:r>
              <a:t>RESULTS</a:t>
            </a:r>
          </a:p>
          <a:p>
            <a:pPr>
              <a:spcAft>
                <a:spcPts val="4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English 0.550 · Arabic 0.477 — highest of the three</a:t>
            </a:r>
          </a:p>
          <a:p>
            <a:pPr>
              <a:spcAft>
                <a:spcPts val="4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0 fabrications in 20 runs · 19.6 s · $0.044 per 10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417320"/>
            <a:ext cx="2523744" cy="321868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rtlCol="0" anchor="ctr"/>
          <a:lstStyle/>
          <a:p>
            <a:pPr algn="ctr">
              <a:defRPr sz="1350" b="1">
                <a:solidFill>
                  <a:srgbClr val="0F172A"/>
                </a:solidFill>
                <a:latin typeface="Segoe UI"/>
              </a:defRPr>
            </a:pPr>
            <a:r>
              <a:t>LLAMA 3.1 8B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Self-hosted, 4-bit AWQ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RESULTS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English 0.492 · Arabic 0.295 — a 40% drop on Arabic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6 fabrications · 26.3 s · no per-token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1417320"/>
            <a:ext cx="2523744" cy="321868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rtlCol="0" anchor="ctr"/>
          <a:lstStyle/>
          <a:p>
            <a:pPr algn="ctr">
              <a:defRPr sz="1350" b="1">
                <a:solidFill>
                  <a:srgbClr val="0F172A"/>
                </a:solidFill>
                <a:latin typeface="Segoe UI"/>
              </a:defRPr>
            </a:pPr>
            <a:r>
              <a:t>QWEN2.5 7B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Self-hosted, 4-bit AWQ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RESULTS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English 0.459 · Arabic 0.169 — a 63% drop on Arabic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8 fabrications · 41.5 s · no per-token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11 / 13  ·  ACCESS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How Users Access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 web app for people, a REST API underneath.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11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886200" cy="16916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WEB APP (STREAMLIT)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Three pages: try one document, run a full benchmark, and review results. It talks only to the middleware, never directly to the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417320"/>
            <a:ext cx="3886200" cy="16916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REST API (FASTAPI MIDDLEWARE)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Endpoints for health, models, document upload and extraction. It handles PDF parsing, model calls, validation, scoring and saving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18688"/>
            <a:ext cx="8046720" cy="141732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SCOPE &amp; CONSTRAINTS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Demo focus: the web app and API running 10 documents across 3 models.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Language: English and Arabic. The 5 RFPs were translated and annotated, and all 3 models were benchmarked on both.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Not included yet: OCR for scanned PDFs. Fine-tuning and RAG are out of scope.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12 / 13  ·  STAKEHOLDER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Benefits for All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Problem, solution, benefit for each group.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12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523744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BEAM DATA ADVISORS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Recommend the right model to 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61488"/>
            <a:ext cx="2523744" cy="1874519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THE BENEFIT THEY GET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Evidence-based model advice for clients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Accuracy, speed and cost from real RFPs in one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417320"/>
            <a:ext cx="2523744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CLIENT BID TEAMS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Read long RFPs for key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2761488"/>
            <a:ext cx="2523744" cy="1874519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THE BENEFIT THEY GET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Faster extraction of key RFP fields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A quoted source for every answer, so it can be 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417320"/>
            <a:ext cx="2523744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PLATFORM TEAMS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Deploy and serve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2761488"/>
            <a:ext cx="2523744" cy="1874519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THE BENEFIT THEY GET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Both self-hosted models fit the 16 GB budget at 4-bit, but trail the API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A reusable harness for testing more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286000" cy="219456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4338CA"/>
                </a:solidFill>
                <a:latin typeface="Segoe UI"/>
              </a:defRPr>
            </a:pPr>
            <a:r>
              <a:t>13 / 13  ·  EXECUTIVE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Three models, ten documents, seventeen fields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Beam Data  ·  RFP AI Benchmarking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3108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13 of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8046720" cy="19659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THE FINDINGS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Accuracy: gpt-4o-mini leads in both languages — 0.550 English, 0.477 Arabic — and is also the fastest.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Trust: gpt-4o-mini never invented a value. Llama invented 6 and Qwen 8. It abstains when unsure; they do not.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Arabic: every model degrades, but the self-hosted pair far more — losing 40% and 63% of their English accuracy against 13% for gpt-4o-mini.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Confidence: run-to-run variation measured at 0.032, so Llama and Qwen cannot be separated from each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93008"/>
            <a:ext cx="8046720" cy="114300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THE RECOMMENDATION</a:t>
            </a:r>
          </a:p>
          <a:p>
            <a:pPr>
              <a:spcAft>
                <a:spcPts val="300"/>
              </a:spcAft>
              <a:defRPr sz="1000">
                <a:solidFill>
                  <a:srgbClr val="1E1B4B"/>
                </a:solidFill>
                <a:latin typeface="Segoe UI"/>
              </a:defRPr>
            </a:pPr>
            <a:r>
              <a:t>Recommend gpt-4o-mini for RFP extraction. Self-hosting stays viable where data control outweighs accuracy — but on Arabic that trade costs roughly half of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1734</Words>
  <Application>Microsoft Office PowerPoint</Application>
  <PresentationFormat>On-screen Show (16:9)</PresentationFormat>
  <Paragraphs>179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عبدالله  خالد  عبدالله  المذن</cp:lastModifiedBy>
  <cp:revision>1</cp:revision>
  <dcterms:created xsi:type="dcterms:W3CDTF">2013-01-27T09:14:16Z</dcterms:created>
  <dcterms:modified xsi:type="dcterms:W3CDTF">2026-09-30T06:14:44Z</dcterms:modified>
  <cp:category/>
</cp:coreProperties>
</file>